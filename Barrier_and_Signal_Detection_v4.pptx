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503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>
                <a:solidFill>
                  <a:srgbClr val="D71600"/>
                </a:solidFill>
                <a:latin typeface="Calibri"/>
              </a:rPr>
              <a:t>Project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9152" y="236136"/>
            <a:ext cx="4517136" cy="33239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200"/>
              </a:spcAft>
              <a:buNone/>
            </a:pPr>
            <a:r>
              <a:rPr b="1" dirty="0">
                <a:solidFill>
                  <a:srgbClr val="6B6B6B"/>
                </a:solidFill>
                <a:latin typeface="Calibri"/>
              </a:rPr>
              <a:t>Barrier and Signal Detection  ·  </a:t>
            </a:r>
            <a:r>
              <a:rPr sz="1600" dirty="0">
                <a:solidFill>
                  <a:srgbClr val="6B6B6B"/>
                </a:solidFill>
                <a:latin typeface="Calibri"/>
              </a:rPr>
              <a:t>Release 1</a:t>
            </a:r>
            <a:endParaRPr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45720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11457432" cy="42062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74348"/>
            <a:ext cx="2864358" cy="209288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 dirty="0">
                <a:solidFill>
                  <a:srgbClr val="1F1F1F"/>
                </a:solidFill>
                <a:latin typeface="Calibri"/>
              </a:rPr>
              <a:t>Sponsor</a:t>
            </a:r>
            <a:r>
              <a:rPr lang="en-US" sz="1000" b="1" dirty="0">
                <a:solidFill>
                  <a:srgbClr val="1F1F1F"/>
                </a:solidFill>
                <a:latin typeface="Calibri"/>
              </a:rPr>
              <a:t>:</a:t>
            </a:r>
            <a:endParaRPr sz="1000" b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30118" y="974348"/>
            <a:ext cx="2864358" cy="209288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 dirty="0">
                <a:solidFill>
                  <a:srgbClr val="1F1F1F"/>
                </a:solidFill>
                <a:latin typeface="Calibri"/>
              </a:rPr>
              <a:t>Business owner</a:t>
            </a:r>
            <a:r>
              <a:rPr lang="en-US" sz="1000" b="1" dirty="0">
                <a:solidFill>
                  <a:srgbClr val="1F1F1F"/>
                </a:solidFill>
                <a:latin typeface="Calibri"/>
              </a:rPr>
              <a:t>:</a:t>
            </a:r>
            <a:endParaRPr sz="1000" b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4476" y="974348"/>
            <a:ext cx="2864358" cy="209288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 dirty="0">
                <a:solidFill>
                  <a:srgbClr val="1F1F1F"/>
                </a:solidFill>
                <a:latin typeface="Calibri"/>
              </a:rPr>
              <a:t>Delivery lead </a:t>
            </a:r>
            <a:r>
              <a:rPr lang="en-US" sz="1000" b="1" dirty="0">
                <a:solidFill>
                  <a:srgbClr val="1F1F1F"/>
                </a:solidFill>
                <a:latin typeface="Calibri"/>
              </a:rPr>
              <a:t>:</a:t>
            </a:r>
            <a:endParaRPr sz="1000" b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58834" y="868680"/>
            <a:ext cx="2864358" cy="420624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1F1F1F"/>
                </a:solidFill>
                <a:latin typeface="Calibri"/>
              </a:rPr>
              <a:t>Chartered  </a:t>
            </a:r>
            <a:r>
              <a:rPr sz="1000" b="0">
                <a:solidFill>
                  <a:srgbClr val="1F1F1F"/>
                </a:solidFill>
                <a:latin typeface="Calibri"/>
              </a:rPr>
              <a:t>15 Jun 2026   </a:t>
            </a:r>
            <a:r>
              <a:rPr sz="1000" b="1">
                <a:solidFill>
                  <a:srgbClr val="1F1F1F"/>
                </a:solidFill>
                <a:latin typeface="Calibri"/>
              </a:rPr>
              <a:t>Release 1  </a:t>
            </a:r>
            <a:r>
              <a:rPr sz="1000" b="0">
                <a:solidFill>
                  <a:srgbClr val="1F1F1F"/>
                </a:solidFill>
                <a:latin typeface="Calibri"/>
              </a:rPr>
              <a:t>Fri 11 Sep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44752"/>
            <a:ext cx="3703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444752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444752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1  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91640"/>
            <a:ext cx="3703320" cy="21488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Reason over enterprise data to find what stops a therapy reaching patients.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Call notes are the first source; sales, claims and market share from ODP follow.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A common vocabulary: Signal → Barrier → Insight, each traceable to its evidence.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Applies the organization's Knowledge Base and Rulebook exactly. Built on AI 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68496"/>
            <a:ext cx="37033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968496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968496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2  Objectives and success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15384"/>
            <a:ext cx="3703320" cy="1327543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 dirty="0">
                <a:solidFill>
                  <a:srgbClr val="1F1F1F"/>
                </a:solidFill>
                <a:latin typeface="Calibri"/>
              </a:rPr>
              <a:t>O1  </a:t>
            </a:r>
            <a:r>
              <a:rPr sz="1100" b="0" dirty="0">
                <a:solidFill>
                  <a:srgbClr val="1F1F1F"/>
                </a:solidFill>
                <a:latin typeface="Calibri"/>
              </a:rPr>
              <a:t>Signals in KB vocabulary, verbatim evidence · 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 dirty="0">
                <a:solidFill>
                  <a:srgbClr val="1F1F1F"/>
                </a:solidFill>
                <a:latin typeface="Calibri"/>
              </a:rPr>
              <a:t>O2  </a:t>
            </a:r>
            <a:r>
              <a:rPr sz="1100" b="0" dirty="0">
                <a:solidFill>
                  <a:srgbClr val="1F1F1F"/>
                </a:solidFill>
                <a:latin typeface="Calibri"/>
              </a:rPr>
              <a:t>Barriers at HCP level, rolled up to account · 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 dirty="0">
                <a:solidFill>
                  <a:srgbClr val="1F1F1F"/>
                </a:solidFill>
                <a:latin typeface="Calibri"/>
              </a:rPr>
              <a:t>O3  </a:t>
            </a:r>
            <a:r>
              <a:rPr sz="1100" b="0" dirty="0">
                <a:solidFill>
                  <a:srgbClr val="1F1F1F"/>
                </a:solidFill>
                <a:latin typeface="Calibri"/>
              </a:rPr>
              <a:t>Barrier-driven and opportunity insights · 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 dirty="0">
                <a:solidFill>
                  <a:srgbClr val="1F1F1F"/>
                </a:solidFill>
                <a:latin typeface="Calibri"/>
              </a:rPr>
              <a:t>O4  </a:t>
            </a:r>
            <a:r>
              <a:rPr sz="1100" b="0" dirty="0">
                <a:solidFill>
                  <a:srgbClr val="1F1F1F"/>
                </a:solidFill>
                <a:latin typeface="Calibri"/>
              </a:rPr>
              <a:t>Released on the production environment · 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 dirty="0">
                <a:solidFill>
                  <a:srgbClr val="1F1F1F"/>
                </a:solidFill>
                <a:latin typeface="Calibri"/>
              </a:rPr>
              <a:t>Success  </a:t>
            </a:r>
            <a:r>
              <a:rPr sz="1100" b="0" dirty="0">
                <a:solidFill>
                  <a:srgbClr val="1F1F1F"/>
                </a:solidFill>
                <a:latin typeface="Calibri"/>
              </a:rPr>
              <a:t>every write validated · every barrier traceable · re-runs converge · domain sign-off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816" y="1444752"/>
            <a:ext cx="3703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42816" y="1444752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42816" y="1444752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3  Scope and deliverables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2816" y="1691640"/>
            <a:ext cx="3703320" cy="21488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Release 1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signal detection over the first source, call notes · barriers and roll-up · insights · review workbooks and verdicts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Next releases  </a:t>
            </a:r>
            <a:r>
              <a:rPr sz="1100" b="0">
                <a:solidFill>
                  <a:srgbClr val="1F1F1F"/>
                </a:solidFill>
                <a:latin typeface="Calibri"/>
              </a:rPr>
              <a:t>ODP sources: sales, claims, market share · cross-source correlation · further sources as the KB names them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Out  </a:t>
            </a:r>
            <a:r>
              <a:rPr sz="1100" b="0">
                <a:solidFill>
                  <a:srgbClr val="1F1F1F"/>
                </a:solidFill>
                <a:latin typeface="Calibri"/>
              </a:rPr>
              <a:t>recommendations · playbooks and activation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Deliverables  </a:t>
            </a:r>
            <a:r>
              <a:rPr sz="1100" b="0">
                <a:solidFill>
                  <a:srgbClr val="1F1F1F"/>
                </a:solidFill>
                <a:latin typeface="Calibri"/>
              </a:rPr>
              <a:t>solution pack · hub schema · KB-generated taxonomy and rules · workbooks · docs and runbook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968496"/>
            <a:ext cx="3703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42816" y="3968496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42816" y="3968496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4  Requirements  (slide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4215384"/>
            <a:ext cx="3703320" cy="62179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KB and Rulebook applied exactly · evidence enforced · explainable · extensible to further data sources · brand- and therapy-agnostic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4965192"/>
            <a:ext cx="3703320" cy="14904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42816" y="4965192"/>
            <a:ext cx="3703320" cy="246888"/>
          </a:xfrm>
          <a:prstGeom prst="rect">
            <a:avLst/>
          </a:prstGeom>
          <a:solidFill>
            <a:srgbClr val="9E1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42816" y="4965192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5  Milestones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2816" y="5212080"/>
            <a:ext cx="3703320" cy="1243584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3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M1  </a:t>
            </a:r>
            <a:r>
              <a:rPr sz="1100" b="0">
                <a:solidFill>
                  <a:srgbClr val="1F1F1F"/>
                </a:solidFill>
                <a:latin typeface="Calibri"/>
              </a:rPr>
              <a:t>Charter and KB intake · 26 Jun</a:t>
            </a:r>
          </a:p>
          <a:p>
            <a:pPr marL="118872" indent="-118872" algn="l">
              <a:lnSpc>
                <a:spcPct val="100000"/>
              </a:lnSpc>
              <a:spcAft>
                <a:spcPts val="3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M2  </a:t>
            </a:r>
            <a:r>
              <a:rPr sz="1100" b="0">
                <a:solidFill>
                  <a:srgbClr val="1F1F1F"/>
                </a:solidFill>
                <a:latin typeface="Calibri"/>
              </a:rPr>
              <a:t>Hub and taxonomy live · 17 Jul</a:t>
            </a:r>
          </a:p>
          <a:p>
            <a:pPr marL="118872" indent="-118872" algn="l">
              <a:lnSpc>
                <a:spcPct val="100000"/>
              </a:lnSpc>
              <a:spcAft>
                <a:spcPts val="3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M3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Signal detection demo · 7 Aug</a:t>
            </a:r>
          </a:p>
          <a:p>
            <a:pPr marL="118872" indent="-118872" algn="l">
              <a:lnSpc>
                <a:spcPct val="100000"/>
              </a:lnSpc>
              <a:spcAft>
                <a:spcPts val="3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M4  </a:t>
            </a:r>
            <a:r>
              <a:rPr sz="1100" b="0">
                <a:solidFill>
                  <a:srgbClr val="1F1F1F"/>
                </a:solidFill>
                <a:latin typeface="Calibri"/>
              </a:rPr>
              <a:t>Domain review · 21 Aug</a:t>
            </a:r>
          </a:p>
          <a:p>
            <a:pPr marL="118872" indent="-118872" algn="l">
              <a:lnSpc>
                <a:spcPct val="100000"/>
              </a:lnSpc>
              <a:spcAft>
                <a:spcPts val="3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M5  </a:t>
            </a:r>
            <a:r>
              <a:rPr sz="1100" b="0">
                <a:solidFill>
                  <a:srgbClr val="1F1F1F"/>
                </a:solidFill>
                <a:latin typeface="Calibri"/>
              </a:rPr>
              <a:t>Code freeze · 4 Sep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M6  </a:t>
            </a:r>
            <a:r>
              <a:rPr sz="1100" b="0">
                <a:solidFill>
                  <a:srgbClr val="1F1F1F"/>
                </a:solidFill>
                <a:latin typeface="Calibri"/>
              </a:rPr>
              <a:t>Release · 11 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9872" y="1444752"/>
            <a:ext cx="3703320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119872" y="1444752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19872" y="1444752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6  Risks, assumptions,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1691640"/>
            <a:ext cx="3703320" cy="214884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Risk  </a:t>
            </a:r>
            <a:r>
              <a:rPr sz="1100" b="0">
                <a:solidFill>
                  <a:srgbClr val="1F1F1F"/>
                </a:solidFill>
                <a:latin typeface="Calibri"/>
              </a:rPr>
              <a:t>KB revisions mid-build → taxonomy regenerated from the documents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Risk  </a:t>
            </a:r>
            <a:r>
              <a:rPr sz="1100" b="0">
                <a:solidFill>
                  <a:srgbClr val="1F1F1F"/>
                </a:solidFill>
                <a:latin typeface="Calibri"/>
              </a:rPr>
              <a:t>one data source limits correlation → stated; ODP feeds next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Risk  </a:t>
            </a:r>
            <a:r>
              <a:rPr sz="1100" b="0">
                <a:solidFill>
                  <a:srgbClr val="1F1F1F"/>
                </a:solidFill>
                <a:latin typeface="Calibri"/>
              </a:rPr>
              <a:t>model variability → deterministic tiers and gates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Assumes  </a:t>
            </a:r>
            <a:r>
              <a:rPr sz="1100" b="0">
                <a:solidFill>
                  <a:srgbClr val="1F1F1F"/>
                </a:solidFill>
                <a:latin typeface="Calibri"/>
              </a:rPr>
              <a:t>extract in the declared shape · reviewers available · Azure OpenAI and PostgreSQL provisioned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Constraint  </a:t>
            </a:r>
            <a:r>
              <a:rPr sz="1100" b="0">
                <a:solidFill>
                  <a:srgbClr val="1F1F1F"/>
                </a:solidFill>
                <a:latin typeface="Calibri"/>
              </a:rPr>
              <a:t>no platform edits · agents never write the hub directly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19872" y="3968496"/>
            <a:ext cx="370332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19872" y="3968496"/>
            <a:ext cx="370332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19872" y="3968496"/>
            <a:ext cx="370332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7  Stakeholders, governance, 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2" y="4215384"/>
            <a:ext cx="3703320" cy="224028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Sponsor  </a:t>
            </a:r>
            <a:r>
              <a:rPr sz="1100" b="0">
                <a:solidFill>
                  <a:srgbClr val="1F1F1F"/>
                </a:solidFill>
                <a:latin typeface="Calibri"/>
              </a:rPr>
              <a:t>scope, budget, release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Domain Head  </a:t>
            </a:r>
            <a:r>
              <a:rPr sz="1100" b="0">
                <a:solidFill>
                  <a:srgbClr val="1F1F1F"/>
                </a:solidFill>
                <a:latin typeface="Calibri"/>
              </a:rPr>
              <a:t>Knowledge Base, review sign-off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Delivery lead  </a:t>
            </a:r>
            <a:r>
              <a:rPr sz="1100" b="0">
                <a:solidFill>
                  <a:srgbClr val="1F1F1F"/>
                </a:solidFill>
                <a:latin typeface="Calibri"/>
              </a:rPr>
              <a:t>plan, team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Governance  </a:t>
            </a:r>
            <a:r>
              <a:rPr sz="1100" b="0">
                <a:solidFill>
                  <a:srgbClr val="1F1F1F"/>
                </a:solidFill>
                <a:latin typeface="Calibri"/>
              </a:rPr>
              <a:t>weekly steering · domain review at milestones</a:t>
            </a:r>
          </a:p>
          <a:p>
            <a:pPr marL="118872" indent="-118872" algn="l">
              <a:lnSpc>
                <a:spcPct val="100000"/>
              </a:lnSpc>
              <a:spcAft>
                <a:spcPts val="5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Resources  </a:t>
            </a:r>
            <a:r>
              <a:rPr sz="1100" b="0">
                <a:solidFill>
                  <a:srgbClr val="1F1F1F"/>
                </a:solidFill>
                <a:latin typeface="Calibri"/>
              </a:rPr>
              <a:t>delivery lead, platform engineers, domain SMEs, IT · budget per SOW [confirm]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Exit  </a:t>
            </a:r>
            <a:r>
              <a:rPr sz="1100" b="0">
                <a:solidFill>
                  <a:srgbClr val="1F1F1F"/>
                </a:solidFill>
                <a:latin typeface="Calibri"/>
              </a:rPr>
              <a:t>smoke test on the production environment · domain sign-off · runbook handed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503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>
                <a:solidFill>
                  <a:srgbClr val="D71600"/>
                </a:solidFill>
                <a:latin typeface="Calibri"/>
              </a:rPr>
              <a:t>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09728"/>
            <a:ext cx="3611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0">
                <a:solidFill>
                  <a:srgbClr val="6B6B6B"/>
                </a:solidFill>
                <a:latin typeface="Calibri"/>
              </a:rPr>
              <a:t>From the Knowledge Base and the Rulebook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45720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896112"/>
            <a:ext cx="56235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896112"/>
            <a:ext cx="562356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96112"/>
            <a:ext cx="562356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Business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5623560" cy="42336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Enterprise data first; any dataset the KB names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SIG-1, 3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Every applicable signal, KB vocabulary only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SIG-2, 6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Evidence traceable to the source record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SIG-5, BAR-8, INS-4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Directional signals need comparable periods  </a:t>
            </a:r>
            <a:r>
              <a:rPr sz="1100" b="0">
                <a:solidFill>
                  <a:srgbClr val="1F1F1F"/>
                </a:solidFill>
                <a:latin typeface="Calibri"/>
              </a:rPr>
              <a:t>SIG-7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Correlate first; keep contradictions  </a:t>
            </a:r>
            <a:r>
              <a:rPr sz="1100" b="0">
                <a:solidFill>
                  <a:srgbClr val="1F1F1F"/>
                </a:solidFill>
                <a:latin typeface="Calibri"/>
              </a:rPr>
              <a:t>COR-1, 3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Barriers only from KB-mapped signals, never forced  </a:t>
            </a:r>
            <a:r>
              <a:rPr sz="1100" b="0">
                <a:solidFill>
                  <a:srgbClr val="1F1F1F"/>
                </a:solidFill>
                <a:latin typeface="Calibri"/>
              </a:rPr>
              <a:t>BAR-6, 13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Three insight paths, no recommendations  </a:t>
            </a:r>
            <a:r>
              <a:rPr sz="1100" b="0">
                <a:solidFill>
                  <a:srgbClr val="1F1F1F"/>
                </a:solidFill>
                <a:latin typeface="Calibri"/>
              </a:rPr>
              <a:t>INS-2, 6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Inactive signals and barriers excluded  </a:t>
            </a:r>
            <a:r>
              <a:rPr sz="1100" b="0">
                <a:solidFill>
                  <a:srgbClr val="1F1F1F"/>
                </a:solidFill>
                <a:latin typeface="Calibri"/>
              </a:rPr>
              <a:t>USE-CASE-1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Human review; verdicts survive re-runs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Brand-, therapy- and vendor-agnostic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896112"/>
            <a:ext cx="56235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896112"/>
            <a:ext cx="562356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2" y="896112"/>
            <a:ext cx="562356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Functional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1143000"/>
            <a:ext cx="5623560" cy="226771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Sources  </a:t>
            </a:r>
            <a:r>
              <a:rPr sz="1100" b="0">
                <a:solidFill>
                  <a:srgbClr val="1F1F1F"/>
                </a:solidFill>
                <a:latin typeface="Calibri"/>
              </a:rPr>
              <a:t>Release 1: call notes · Release 2: ODP: sales, claims, market share</a:t>
            </a:r>
          </a:p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Detection  </a:t>
            </a:r>
            <a:r>
              <a:rPr sz="1100" b="0">
                <a:solidFill>
                  <a:srgbClr val="1F1F1F"/>
                </a:solidFill>
                <a:latin typeface="Calibri"/>
              </a:rPr>
              <a:t>rules as the floor, agent adjudication on top</a:t>
            </a:r>
          </a:p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Grain  </a:t>
            </a:r>
            <a:r>
              <a:rPr sz="1100" b="0">
                <a:solidFill>
                  <a:srgbClr val="1F1F1F"/>
                </a:solidFill>
                <a:latin typeface="Calibri"/>
              </a:rPr>
              <a:t>HCP, rolled up to account</a:t>
            </a:r>
          </a:p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Scores  </a:t>
            </a:r>
            <a:r>
              <a:rPr sz="1100" b="0">
                <a:solidFill>
                  <a:srgbClr val="1F1F1F"/>
                </a:solidFill>
                <a:latin typeface="Calibri"/>
              </a:rPr>
              <a:t>confidence, severity, priority: computed, never written</a:t>
            </a:r>
          </a:p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Re-runs  </a:t>
            </a:r>
            <a:r>
              <a:rPr sz="1100" b="0">
                <a:solidFill>
                  <a:srgbClr val="1F1F1F"/>
                </a:solidFill>
                <a:latin typeface="Calibri"/>
              </a:rPr>
              <a:t>idempotent; remediate step</a:t>
            </a:r>
          </a:p>
          <a:p>
            <a:pPr marL="118872" indent="-118872" algn="l">
              <a:lnSpc>
                <a:spcPct val="100000"/>
              </a:lnSpc>
              <a:spcAft>
                <a:spcPts val="7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Review  </a:t>
            </a:r>
            <a:r>
              <a:rPr sz="1100" b="0">
                <a:solidFill>
                  <a:srgbClr val="1F1F1F"/>
                </a:solidFill>
                <a:latin typeface="Calibri"/>
              </a:rPr>
              <a:t>workbooks, evidence walk, traceability graph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Ask  </a:t>
            </a:r>
            <a:r>
              <a:rPr sz="1100" b="0">
                <a:solidFill>
                  <a:srgbClr val="1F1F1F"/>
                </a:solidFill>
                <a:latin typeface="Calibri"/>
              </a:rPr>
              <a:t>the analyst agent; the answer carries its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3538728"/>
            <a:ext cx="5623560" cy="18379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9632" y="3538728"/>
            <a:ext cx="5623560" cy="2468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3538728"/>
            <a:ext cx="562356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Non-functional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785616"/>
            <a:ext cx="5623560" cy="1591056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Extensible: a new dataset is a declared source with its own rulebook; the taxonomy is constant</a:t>
            </a:r>
          </a:p>
          <a:p>
            <a:pPr marL="118872" indent="-118872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Installable pack on AI Core; no platform edits</a:t>
            </a:r>
          </a:p>
          <a:p>
            <a:pPr marL="118872" indent="-118872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PostgreSQL in production; SQLite for developers</a:t>
            </a:r>
          </a:p>
          <a:p>
            <a:pPr marL="118872" indent="-118872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Azure OpenAI through the enterprise tenant</a:t>
            </a:r>
          </a:p>
          <a:p>
            <a:pPr marL="118872" indent="-118872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Resilient: retries, attempt caps, self-healing runs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0">
                <a:solidFill>
                  <a:srgbClr val="1F1F1F"/>
                </a:solidFill>
                <a:latin typeface="Calibri"/>
              </a:rPr>
              <a:t>Forensics per run; auditable rule enforcement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22976"/>
            <a:ext cx="11457432" cy="932688"/>
          </a:xfrm>
          <a:prstGeom prst="rect">
            <a:avLst/>
          </a:prstGeom>
          <a:solidFill>
            <a:srgbClr val="FBE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522976"/>
            <a:ext cx="2103120" cy="932688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D71600"/>
                </a:solidFill>
                <a:latin typeface="Calibri"/>
              </a:rPr>
              <a:t>The KB's reasoning hierarchy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60320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D71600"/>
                </a:solidFill>
                <a:latin typeface="Calibri"/>
              </a:rPr>
              <a:t>Enterprise data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959352" y="5916168"/>
            <a:ext cx="109728" cy="146304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096512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96512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D71600"/>
                </a:solidFill>
                <a:latin typeface="Calibri"/>
              </a:rPr>
              <a:t>Signal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495544" y="5916168"/>
            <a:ext cx="109728" cy="146304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32704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32704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D71600"/>
                </a:solidFill>
                <a:latin typeface="Calibri"/>
              </a:rPr>
              <a:t>Correlation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031736" y="5916168"/>
            <a:ext cx="109728" cy="146304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68896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68896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D71600"/>
                </a:solidFill>
                <a:latin typeface="Calibri"/>
              </a:rPr>
              <a:t>Barrier / Opportunity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567928" y="5916168"/>
            <a:ext cx="109728" cy="146304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705088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05088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1">
                <a:solidFill>
                  <a:srgbClr val="D71600"/>
                </a:solidFill>
                <a:latin typeface="Calibri"/>
              </a:rPr>
              <a:t>Insight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04120" y="5916168"/>
            <a:ext cx="109728" cy="146304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241280" y="5724144"/>
            <a:ext cx="1371600" cy="5303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280" y="5724144"/>
            <a:ext cx="1371600" cy="53035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050" b="0">
                <a:solidFill>
                  <a:srgbClr val="6B6B6B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71682"/>
            <a:ext cx="8503920" cy="4247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 dirty="0">
                <a:solidFill>
                  <a:srgbClr val="D71600"/>
                </a:solidFill>
                <a:latin typeface="Calibri"/>
              </a:rPr>
              <a:t>Solution on the AI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09728"/>
            <a:ext cx="3611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0">
                <a:solidFill>
                  <a:srgbClr val="6B6B6B"/>
                </a:solidFill>
                <a:latin typeface="Calibri"/>
              </a:rPr>
              <a:t>One solution,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45720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1145743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1463040" cy="749808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1F1F1F"/>
                </a:solidFill>
                <a:latin typeface="Calibri"/>
              </a:rPr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1024128"/>
            <a:ext cx="3185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1024128"/>
            <a:ext cx="3185160" cy="53035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D71600"/>
                </a:solidFill>
                <a:latin typeface="Calibri"/>
              </a:rPr>
              <a:t>Brand and domain teams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Studio · review workbooks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8280" y="1024128"/>
            <a:ext cx="3185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8280" y="1024128"/>
            <a:ext cx="3185160" cy="53035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D71600"/>
                </a:solidFill>
                <a:latin typeface="Calibri"/>
              </a:rPr>
              <a:t>Field and functional teams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barrier register by account and HCP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38032" y="1024128"/>
            <a:ext cx="3185160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8032" y="1024128"/>
            <a:ext cx="3185160" cy="53035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D71600"/>
                </a:solidFill>
                <a:latin typeface="Calibri"/>
              </a:rPr>
              <a:t>Operations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one command per data drop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73936"/>
            <a:ext cx="11457432" cy="1828800"/>
          </a:xfrm>
          <a:prstGeom prst="rect">
            <a:avLst/>
          </a:prstGeom>
          <a:solidFill>
            <a:srgbClr val="FBEAE7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1773936"/>
            <a:ext cx="1463040" cy="1828800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D71600"/>
                </a:solidFill>
                <a:latin typeface="Calibri"/>
              </a:rPr>
              <a:t>Barrier and Signal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8528" y="1901952"/>
            <a:ext cx="218313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8528" y="1901952"/>
            <a:ext cx="2183130" cy="7315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Signal detection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213098" y="2167128"/>
            <a:ext cx="201168" cy="201168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05706" y="1901952"/>
            <a:ext cx="218313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05706" y="1901952"/>
            <a:ext cx="2183130" cy="7315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Barrier detection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80276" y="2167128"/>
            <a:ext cx="201168" cy="201168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72884" y="1901952"/>
            <a:ext cx="218313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72884" y="1901952"/>
            <a:ext cx="2183130" cy="7315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Insights and brief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47454" y="2167128"/>
            <a:ext cx="201168" cy="201168"/>
          </a:xfrm>
          <a:prstGeom prst="rightArrow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640062" y="1901952"/>
            <a:ext cx="218313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40062" y="1901952"/>
            <a:ext cx="2183130" cy="7315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Review and verdicts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8528" y="2761488"/>
            <a:ext cx="31851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38528" y="2761488"/>
            <a:ext cx="3185160" cy="71323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1F1F1F"/>
                </a:solidFill>
                <a:latin typeface="Calibri"/>
              </a:rPr>
              <a:t>Three agents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1F1F1F"/>
                </a:solidFill>
                <a:latin typeface="Calibri"/>
              </a:rPr>
              <a:t>Ava prepares · Maya detects · Vera verifies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88280" y="2761488"/>
            <a:ext cx="31851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88280" y="2761488"/>
            <a:ext cx="3185160" cy="71323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1F1F1F"/>
                </a:solidFill>
                <a:latin typeface="Calibri"/>
              </a:rPr>
              <a:t>Knowledge Base and Rulebook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1F1F1F"/>
                </a:solidFill>
                <a:latin typeface="Calibri"/>
              </a:rPr>
              <a:t>192 signal types · 20 barrier types · 34 rules, as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38032" y="2761488"/>
            <a:ext cx="318516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8032" y="2761488"/>
            <a:ext cx="3185160" cy="713232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1F1F1F"/>
                </a:solidFill>
                <a:latin typeface="Calibri"/>
              </a:rPr>
              <a:t>Validating tools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000" b="0">
                <a:solidFill>
                  <a:srgbClr val="1F1F1F"/>
                </a:solidFill>
                <a:latin typeface="Calibri"/>
              </a:rPr>
              <a:t>every write is checked against the KB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12464"/>
            <a:ext cx="11457432" cy="822960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911579"/>
            <a:ext cx="11457432" cy="424732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AI Core </a:t>
            </a:r>
            <a:r>
              <a:rPr lang="en-US" sz="2400" b="1" dirty="0">
                <a:solidFill>
                  <a:srgbClr val="FFFFFF"/>
                </a:solidFill>
                <a:latin typeface="Calibri"/>
              </a:rPr>
              <a:t>Platform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365760" y="4645152"/>
            <a:ext cx="11457432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4645152"/>
            <a:ext cx="1463040" cy="1051560"/>
          </a:xfrm>
          <a:prstGeom prst="rect">
            <a:avLst/>
          </a:prstGeom>
          <a:noFill/>
        </p:spPr>
        <p:txBody>
          <a:bodyPr wrap="square" lIns="109728" tIns="27432" rIns="109728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1">
                <a:solidFill>
                  <a:srgbClr val="1F1F1F"/>
                </a:solidFill>
                <a:latin typeface="Calibri"/>
              </a:rPr>
              <a:t>Data sources and stores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75966" y="4709160"/>
            <a:ext cx="2347722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75966" y="4709160"/>
            <a:ext cx="2347722" cy="79552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D71600"/>
                </a:solidFill>
                <a:latin typeface="Calibri"/>
              </a:rPr>
              <a:t>Release 1 · Call notes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the first source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88280" y="4709160"/>
            <a:ext cx="2347722" cy="7955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88280" y="4709160"/>
            <a:ext cx="2347722" cy="79552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6B6B6B"/>
                </a:solidFill>
                <a:latin typeface="Calibri"/>
              </a:rPr>
              <a:t>Release 2 · ODP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One Data Platform: sales · claims · market share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00594" y="4709160"/>
            <a:ext cx="2347722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800594" y="4709160"/>
            <a:ext cx="2347722" cy="79552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1F1F1F"/>
                </a:solidFill>
                <a:latin typeface="Calibri"/>
              </a:rPr>
              <a:t>Hub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signals · barriers · insights · verdicts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824728"/>
            <a:ext cx="11457432" cy="630936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D71600"/>
                </a:solidFill>
                <a:latin typeface="Calibri"/>
              </a:rPr>
              <a:t>The solution supplies the judgement. </a:t>
            </a:r>
            <a:r>
              <a:rPr sz="1200" b="0">
                <a:solidFill>
                  <a:srgbClr val="1F1F1F"/>
                </a:solidFill>
                <a:latin typeface="Calibri"/>
              </a:rPr>
              <a:t>The platform supplies scheduling, recovery, evidence gates, forensics and security. A new data source is a declared source with its rulebook; the taxonomy and the base do not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503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>
                <a:solidFill>
                  <a:srgbClr val="D71600"/>
                </a:solidFill>
                <a:latin typeface="Calibri"/>
              </a:rPr>
              <a:t>Project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09728"/>
            <a:ext cx="3611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0">
                <a:solidFill>
                  <a:srgbClr val="6B6B6B"/>
                </a:solidFill>
                <a:latin typeface="Calibri"/>
              </a:rPr>
              <a:t>What the business gains, and who acts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45720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21598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2159812" cy="9601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Every record is read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call notes first; more sources next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0164" y="914400"/>
            <a:ext cx="21598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90164" y="914400"/>
            <a:ext cx="2159812" cy="9601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20 obstacle types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across 6 business areas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14569" y="914400"/>
            <a:ext cx="21598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14569" y="914400"/>
            <a:ext cx="2159812" cy="9601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Evidence behind every barrier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the source record, verbatim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8974" y="914400"/>
            <a:ext cx="21598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38974" y="914400"/>
            <a:ext cx="2159812" cy="9601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HCP, then account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the level a response is planned 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63379" y="914400"/>
            <a:ext cx="21598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1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63379" y="914400"/>
            <a:ext cx="2159812" cy="960120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1300" b="1">
                <a:solidFill>
                  <a:srgbClr val="D71600"/>
                </a:solidFill>
                <a:latin typeface="Calibri"/>
              </a:rPr>
              <a:t>Any brand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950" b="0">
                <a:solidFill>
                  <a:srgbClr val="1F1F1F"/>
                </a:solidFill>
                <a:latin typeface="Calibri"/>
              </a:rPr>
              <a:t>a new brand is configured, not rebuilt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057400"/>
            <a:ext cx="56235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2057400"/>
            <a:ext cx="5623560" cy="246888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057400"/>
            <a:ext cx="562356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What the business can now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304288"/>
            <a:ext cx="5623560" cy="2862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Where is the therapy blocked, and by what?  </a:t>
            </a:r>
            <a:r>
              <a:rPr sz="1100" b="0">
                <a:solidFill>
                  <a:srgbClr val="1F1F1F"/>
                </a:solidFill>
                <a:latin typeface="Calibri"/>
              </a:rPr>
              <a:t>a ranked register by account and HCP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Is it real?  </a:t>
            </a:r>
            <a:r>
              <a:rPr sz="1100" b="0">
                <a:solidFill>
                  <a:srgbClr val="1F1F1F"/>
                </a:solidFill>
                <a:latin typeface="Calibri"/>
              </a:rPr>
              <a:t>every barrier walks back to a sentence; a person records the verdict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What do we do on Monday?  </a:t>
            </a:r>
            <a:r>
              <a:rPr sz="1100" b="0">
                <a:solidFill>
                  <a:srgbClr val="1F1F1F"/>
                </a:solidFill>
                <a:latin typeface="Calibri"/>
              </a:rPr>
              <a:t>priority, severity, and the function that owns each obstacle</a:t>
            </a:r>
          </a:p>
          <a:p>
            <a:pPr marL="118872" indent="-118872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What is going right?  </a:t>
            </a:r>
            <a:r>
              <a:rPr sz="1100" b="0">
                <a:solidFill>
                  <a:srgbClr val="1F1F1F"/>
                </a:solidFill>
                <a:latin typeface="Calibri"/>
              </a:rPr>
              <a:t>opportunity insights, reported separately from barriers (INS-3)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Can we do this for other brands?  </a:t>
            </a:r>
            <a:r>
              <a:rPr sz="1100" b="0">
                <a:solidFill>
                  <a:srgbClr val="1F1F1F"/>
                </a:solidFill>
                <a:latin typeface="Calibri"/>
              </a:rPr>
              <a:t>yes: a taxonomy configuration, not a rebuild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057400"/>
            <a:ext cx="56235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2057400"/>
            <a:ext cx="5623560" cy="2468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9632" y="2057400"/>
            <a:ext cx="5623560" cy="246888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</a:rPr>
              <a:t>Who acts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04288"/>
            <a:ext cx="5623560" cy="2862072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marL="118872" indent="-118872" algn="l">
              <a:lnSpc>
                <a:spcPct val="100000"/>
              </a:lnSpc>
              <a:spcAft>
                <a:spcPts val="9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Brand leadership  </a:t>
            </a:r>
            <a:r>
              <a:rPr sz="1100" b="0">
                <a:solidFill>
                  <a:srgbClr val="1F1F1F"/>
                </a:solidFill>
                <a:latin typeface="Calibri"/>
              </a:rPr>
              <a:t>one evidence-backed view; a signal brief for the leadership meeting</a:t>
            </a:r>
          </a:p>
          <a:p>
            <a:pPr marL="118872" indent="-118872" algn="l">
              <a:lnSpc>
                <a:spcPct val="100000"/>
              </a:lnSpc>
              <a:spcAft>
                <a:spcPts val="9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Market access  </a:t>
            </a:r>
            <a:r>
              <a:rPr sz="1100" b="0">
                <a:solidFill>
                  <a:srgbClr val="1F1F1F"/>
                </a:solidFill>
                <a:latin typeface="Calibri"/>
              </a:rPr>
              <a:t>formulary, step therapy and coverage obstacles, by account</a:t>
            </a:r>
          </a:p>
          <a:p>
            <a:pPr marL="118872" indent="-118872" algn="l">
              <a:lnSpc>
                <a:spcPct val="100000"/>
              </a:lnSpc>
              <a:spcAft>
                <a:spcPts val="9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Patient services  </a:t>
            </a:r>
            <a:r>
              <a:rPr sz="1100" b="0">
                <a:solidFill>
                  <a:srgbClr val="1F1F1F"/>
                </a:solidFill>
                <a:latin typeface="Calibri"/>
              </a:rPr>
              <a:t>prior-auth and enrolment delays, where support is needed</a:t>
            </a:r>
          </a:p>
          <a:p>
            <a:pPr marL="118872" indent="-118872" algn="l">
              <a:lnSpc>
                <a:spcPct val="100000"/>
              </a:lnSpc>
              <a:spcAft>
                <a:spcPts val="9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Medical affairs  </a:t>
            </a:r>
            <a:r>
              <a:rPr sz="1100" b="0">
                <a:solidFill>
                  <a:srgbClr val="1F1F1F"/>
                </a:solidFill>
                <a:latin typeface="Calibri"/>
              </a:rPr>
              <a:t>evidence requests and efficacy concerns, as HCPs raised them</a:t>
            </a:r>
          </a:p>
          <a:p>
            <a:pPr marL="118872" indent="-118872" algn="l">
              <a:lnSpc>
                <a:spcPct val="100000"/>
              </a:lnSpc>
              <a:spcAft>
                <a:spcPts val="90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Field operations  </a:t>
            </a:r>
            <a:r>
              <a:rPr sz="1100" b="0">
                <a:solidFill>
                  <a:srgbClr val="1F1F1F"/>
                </a:solidFill>
                <a:latin typeface="Calibri"/>
              </a:rPr>
              <a:t>engagement and coverage gaps; every note is read</a:t>
            </a:r>
          </a:p>
          <a:p>
            <a:pPr marL="118872" indent="-118872" algn="l">
              <a:lnSpc>
                <a:spcPct val="100000"/>
              </a:lnSpc>
              <a:spcAft>
                <a:spcPts val="0"/>
              </a:spcAft>
              <a:buChar char="•"/>
            </a:pPr>
            <a:r>
              <a:rPr sz="1100" b="1">
                <a:solidFill>
                  <a:srgbClr val="1F1F1F"/>
                </a:solidFill>
                <a:latin typeface="Calibri"/>
              </a:rPr>
              <a:t>Compliance  </a:t>
            </a:r>
            <a:r>
              <a:rPr sz="1100" b="0">
                <a:solidFill>
                  <a:srgbClr val="1F1F1F"/>
                </a:solidFill>
                <a:latin typeface="Calibri"/>
              </a:rPr>
              <a:t>safety signals excluded as configured; an audit trail to the sentence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30952"/>
            <a:ext cx="11457432" cy="112471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59" y="5684789"/>
            <a:ext cx="11457431" cy="417037"/>
          </a:xfrm>
          <a:prstGeom prst="rect">
            <a:avLst/>
          </a:prstGeom>
          <a:noFill/>
        </p:spPr>
        <p:txBody>
          <a:bodyPr wrap="square" lIns="128016" tIns="27432" rIns="128016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sz="1100" b="1" dirty="0">
                <a:solidFill>
                  <a:srgbClr val="D71600"/>
                </a:solidFill>
                <a:latin typeface="Calibri"/>
              </a:rPr>
              <a:t>Built and verified in code  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000" b="0" dirty="0">
                <a:solidFill>
                  <a:srgbClr val="1F1F1F"/>
                </a:solidFill>
                <a:latin typeface="Calibri"/>
              </a:rPr>
              <a:t>192 signal types · 20 barrier types · 256 admitted mappings, enforced at write time · 32 of 34 Rulebook rules enforced in code or schema · re-runs converge · deployable on the organization's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50392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2400" b="1">
                <a:solidFill>
                  <a:srgbClr val="D71600"/>
                </a:solidFill>
                <a:latin typeface="Calibri"/>
              </a:rPr>
              <a:t>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09728"/>
            <a:ext cx="361188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200"/>
              </a:spcAft>
              <a:buNone/>
            </a:pPr>
            <a:r>
              <a:rPr sz="1100" b="0">
                <a:solidFill>
                  <a:srgbClr val="6B6B6B"/>
                </a:solidFill>
                <a:latin typeface="Calibri"/>
              </a:rPr>
              <a:t>Release 1  ·  Friday 11 Sep 2026  ·  13 weeks from 15 Jun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13232"/>
            <a:ext cx="11457432" cy="45720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914400"/>
            <a:ext cx="11457432" cy="42062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1326583" cy="201168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914400"/>
            <a:ext cx="1326583" cy="201168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1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983" y="914400"/>
            <a:ext cx="3316458" cy="201168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983" y="914400"/>
            <a:ext cx="3316458" cy="201168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1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3441" y="914400"/>
            <a:ext cx="2653166" cy="201168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3441" y="914400"/>
            <a:ext cx="2653166" cy="201168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1">
                <a:solidFill>
                  <a:srgbClr val="FFFFFF"/>
                </a:solidFill>
                <a:latin typeface="Calibri"/>
              </a:rPr>
              <a:t>Aug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96608" y="914400"/>
            <a:ext cx="1326583" cy="201168"/>
          </a:xfrm>
          <a:prstGeom prst="rect">
            <a:avLst/>
          </a:prstGeom>
          <a:solidFill>
            <a:srgbClr val="2B2B2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96608" y="914400"/>
            <a:ext cx="1326583" cy="201168"/>
          </a:xfrm>
          <a:prstGeom prst="rect">
            <a:avLst/>
          </a:prstGeom>
          <a:noFill/>
        </p:spPr>
        <p:txBody>
          <a:bodyPr wrap="square" lIns="18288" tIns="27432" rIns="18288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1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W1 ·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3691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W2 ·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983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W3 · 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0275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W4 ·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3566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W5 ·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6858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W6 ·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0150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W7 · 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3441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W8 ·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6733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W9 ·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0025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W10 · 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3316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W11 · 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6608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W12 ·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9900" y="1115568"/>
            <a:ext cx="663291" cy="219456"/>
          </a:xfrm>
          <a:prstGeom prst="rect">
            <a:avLst/>
          </a:prstGeom>
          <a:noFill/>
        </p:spPr>
        <p:txBody>
          <a:bodyPr wrap="square" lIns="9144" tIns="27432" rIns="9144" bIns="27432" anchor="ctr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0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W13 ·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914400"/>
            <a:ext cx="2834640" cy="420624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000" b="1">
                <a:solidFill>
                  <a:srgbClr val="1F1F1F"/>
                </a:solidFill>
                <a:latin typeface="Calibri"/>
              </a:rPr>
              <a:t>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1335024"/>
            <a:ext cx="114574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1335024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Mobilise and discovery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charter · KB and Rulebook intake ·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27832" y="1435608"/>
            <a:ext cx="1271719" cy="201168"/>
          </a:xfrm>
          <a:prstGeom prst="roundRect">
            <a:avLst>
              <a:gd name="adj" fmla="val 6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1737360"/>
            <a:ext cx="11457432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1737360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Data foundation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hub · taxonomy and rules from the KB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54415" y="1837944"/>
            <a:ext cx="1935011" cy="201168"/>
          </a:xfrm>
          <a:prstGeom prst="roundRect">
            <a:avLst>
              <a:gd name="adj" fmla="val 6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2139696"/>
            <a:ext cx="114574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2139696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Signal detection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two tiers · correlation · coverage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44290" y="2240280"/>
            <a:ext cx="1935011" cy="201168"/>
          </a:xfrm>
          <a:prstGeom prst="roundRect">
            <a:avLst>
              <a:gd name="adj" fmla="val 6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5760" y="2542032"/>
            <a:ext cx="11457432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2542032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Barrier detection and insights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KB-gated · scoring · integrity gate · workbooks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34165" y="2642616"/>
            <a:ext cx="1935011" cy="201168"/>
          </a:xfrm>
          <a:prstGeom prst="roundRect">
            <a:avLst>
              <a:gd name="adj" fmla="val 6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5760" y="2944368"/>
            <a:ext cx="114574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2944368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Hardening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HCP level · idempotent re-runs · deployment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24040" y="3044952"/>
            <a:ext cx="608427" cy="201168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3346704"/>
            <a:ext cx="11457432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3346704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Release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UAT · smoke test · go / no-go · handover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187332" y="3447288"/>
            <a:ext cx="608427" cy="201168"/>
          </a:xfrm>
          <a:prstGeom prst="roundRect">
            <a:avLst>
              <a:gd name="adj" fmla="val 6000"/>
            </a:avLst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65760" y="3749040"/>
            <a:ext cx="114574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5760" y="3749040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Testing and forensics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continuous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54415" y="3904488"/>
            <a:ext cx="7241344" cy="9144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65760" y="4151376"/>
            <a:ext cx="11457432" cy="402336"/>
          </a:xfrm>
          <a:prstGeom prst="rect">
            <a:avLst/>
          </a:prstGeom>
          <a:solidFill>
            <a:srgbClr val="F5F5F5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4151376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Documentation and enablement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750" b="0">
                <a:solidFill>
                  <a:srgbClr val="6B6B6B"/>
                </a:solidFill>
                <a:latin typeface="Calibri"/>
              </a:rPr>
              <a:t>docs · runbook · developer walk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80998" y="4306824"/>
            <a:ext cx="5914761" cy="9144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65760" y="4553712"/>
            <a:ext cx="114574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4553712"/>
            <a:ext cx="2834640" cy="402336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Weekly steering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27832" y="4709160"/>
            <a:ext cx="8567928" cy="91440"/>
          </a:xfrm>
          <a:prstGeom prst="roundRect">
            <a:avLst>
              <a:gd name="adj" fmla="val 6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863691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26983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190275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853566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516858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180150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843441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506733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70025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833316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496608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1159900" y="1335024"/>
            <a:ext cx="6350" cy="362102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65760" y="4956048"/>
            <a:ext cx="1145743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4956048"/>
            <a:ext cx="2834640" cy="749808"/>
          </a:xfrm>
          <a:prstGeom prst="rect">
            <a:avLst/>
          </a:prstGeom>
          <a:noFill/>
        </p:spPr>
        <p:txBody>
          <a:bodyPr wrap="square" tIns="27432" bIns="27432" anchor="ctr">
            <a:spAutoFit/>
          </a:bodyPr>
          <a:lstStyle/>
          <a:p>
            <a:pPr marL="0" indent="0"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950" b="1">
                <a:solidFill>
                  <a:srgbClr val="1F1F1F"/>
                </a:solidFill>
                <a:latin typeface="Calibri"/>
              </a:rPr>
              <a:t>Milestones</a:t>
            </a:r>
          </a:p>
        </p:txBody>
      </p:sp>
      <p:sp>
        <p:nvSpPr>
          <p:cNvPr id="73" name="Diamond 72"/>
          <p:cNvSpPr/>
          <p:nvPr/>
        </p:nvSpPr>
        <p:spPr>
          <a:xfrm>
            <a:off x="4334959" y="5029200"/>
            <a:ext cx="164592" cy="164592"/>
          </a:xfrm>
          <a:prstGeom prst="diamond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22895" y="5212080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alibri"/>
              </a:rPr>
              <a:t>M1  </a:t>
            </a:r>
            <a:r>
              <a:rPr sz="750" b="0">
                <a:solidFill>
                  <a:srgbClr val="1F1F1F"/>
                </a:solidFill>
                <a:latin typeface="Calibri"/>
              </a:rPr>
              <a:t>Charter · 26 Jun</a:t>
            </a:r>
          </a:p>
        </p:txBody>
      </p:sp>
      <p:sp>
        <p:nvSpPr>
          <p:cNvPr id="75" name="Diamond 74"/>
          <p:cNvSpPr/>
          <p:nvPr/>
        </p:nvSpPr>
        <p:spPr>
          <a:xfrm>
            <a:off x="6324834" y="5029200"/>
            <a:ext cx="164592" cy="164592"/>
          </a:xfrm>
          <a:prstGeom prst="diamond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812770" y="5413248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alibri"/>
              </a:rPr>
              <a:t>M2  </a:t>
            </a:r>
            <a:r>
              <a:rPr sz="750" b="0">
                <a:solidFill>
                  <a:srgbClr val="1F1F1F"/>
                </a:solidFill>
                <a:latin typeface="Calibri"/>
              </a:rPr>
              <a:t>Hub live · 17 Jul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3955" y="5193792"/>
            <a:ext cx="6350" cy="2194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Diamond 77"/>
          <p:cNvSpPr/>
          <p:nvPr/>
        </p:nvSpPr>
        <p:spPr>
          <a:xfrm>
            <a:off x="8314709" y="5029200"/>
            <a:ext cx="164592" cy="164592"/>
          </a:xfrm>
          <a:prstGeom prst="diamond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802645" y="5212080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alibri"/>
              </a:rPr>
              <a:t>M3  </a:t>
            </a:r>
            <a:r>
              <a:rPr sz="750" b="0">
                <a:solidFill>
                  <a:srgbClr val="1F1F1F"/>
                </a:solidFill>
                <a:latin typeface="Calibri"/>
              </a:rPr>
              <a:t>Signals demo · 7 Aug</a:t>
            </a:r>
          </a:p>
        </p:txBody>
      </p:sp>
      <p:sp>
        <p:nvSpPr>
          <p:cNvPr id="80" name="Diamond 79"/>
          <p:cNvSpPr/>
          <p:nvPr/>
        </p:nvSpPr>
        <p:spPr>
          <a:xfrm>
            <a:off x="9641292" y="5029200"/>
            <a:ext cx="164592" cy="164592"/>
          </a:xfrm>
          <a:prstGeom prst="diamond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29228" y="5413248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alibri"/>
              </a:rPr>
              <a:t>M4  </a:t>
            </a:r>
            <a:r>
              <a:rPr sz="750" b="0">
                <a:solidFill>
                  <a:srgbClr val="1F1F1F"/>
                </a:solidFill>
                <a:latin typeface="Calibri"/>
              </a:rPr>
              <a:t>Domain review · 21 Aug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20413" y="5193792"/>
            <a:ext cx="6350" cy="2194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Diamond 82"/>
          <p:cNvSpPr/>
          <p:nvPr/>
        </p:nvSpPr>
        <p:spPr>
          <a:xfrm>
            <a:off x="10967876" y="5029200"/>
            <a:ext cx="164592" cy="164592"/>
          </a:xfrm>
          <a:prstGeom prst="diamond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455812" y="5212080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2B2B2B"/>
                </a:solidFill>
                <a:latin typeface="Calibri"/>
              </a:rPr>
              <a:t>M5  </a:t>
            </a:r>
            <a:r>
              <a:rPr sz="750" b="0">
                <a:solidFill>
                  <a:srgbClr val="1F1F1F"/>
                </a:solidFill>
                <a:latin typeface="Calibri"/>
              </a:rPr>
              <a:t>Code freeze · 4 Sep</a:t>
            </a:r>
          </a:p>
        </p:txBody>
      </p:sp>
      <p:sp>
        <p:nvSpPr>
          <p:cNvPr id="85" name="Diamond 84"/>
          <p:cNvSpPr/>
          <p:nvPr/>
        </p:nvSpPr>
        <p:spPr>
          <a:xfrm>
            <a:off x="11631168" y="5029200"/>
            <a:ext cx="164592" cy="164592"/>
          </a:xfrm>
          <a:prstGeom prst="diamond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616184" y="5413248"/>
            <a:ext cx="1188720" cy="27432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sz="750" b="1">
                <a:solidFill>
                  <a:srgbClr val="D71600"/>
                </a:solidFill>
                <a:latin typeface="Calibri"/>
              </a:rPr>
              <a:t>M6  </a:t>
            </a:r>
            <a:r>
              <a:rPr sz="750" b="0">
                <a:solidFill>
                  <a:srgbClr val="1F1F1F"/>
                </a:solidFill>
                <a:latin typeface="Calibri"/>
              </a:rPr>
              <a:t>Release · 11 Sep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710289" y="5193792"/>
            <a:ext cx="6350" cy="219456"/>
          </a:xfrm>
          <a:prstGeom prst="rect">
            <a:avLst/>
          </a:prstGeom>
          <a:solidFill>
            <a:srgbClr val="D71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1239</Words>
  <Application>Microsoft Office PowerPoint</Application>
  <PresentationFormat>Widescreen</PresentationFormat>
  <Paragraphs>179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Sudhir Bisane</cp:lastModifiedBy>
  <cp:revision>12</cp:revision>
  <dcterms:created xsi:type="dcterms:W3CDTF">2013-01-27T09:14:16Z</dcterms:created>
  <dcterms:modified xsi:type="dcterms:W3CDTF">2026-09-07T19:29:39Z</dcterms:modified>
  <cp:category/>
</cp:coreProperties>
</file>